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AE6FD"/>
                </a:solidFill>
                <a:latin typeface="Calibri"/>
              </a:defRPr>
            </a:pPr>
            <a:r>
              <a:t>VELLORE INSTITUTE OF TECHNOLOGY | SCORE | FALL SEMESTER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EF08A"/>
                </a:solidFill>
                <a:latin typeface="Calibri"/>
              </a:defRPr>
            </a:pPr>
            <a:r>
              <a:t>SWE3004 - SOFTWARE DESIGN AND DEVELOPMENT PROJECT  |  REVIEW - 2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ShelfLife: AI-Powered Perishable Inventory Management</a:t>
            </a:r>
            <a:br/>
            <a:r>
              <a:t>and Retail Analytics System for Small Retail Stores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Dual Supervised ML Forecasting • Bounded Health Score Heuristics • Atomic Multi-Batch FEFO POS 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462272"/>
            <a:ext cx="4791456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2341"/>
                </a:solidFill>
                <a:latin typeface="Calibri"/>
              </a:defRPr>
            </a:pPr>
            <a:r>
              <a:t>STUDENT DETAILS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Student Name: </a:t>
            </a:r>
            <a:r>
              <a:rPr b="0"/>
              <a:t>SUNILKUMAR B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Register Number: </a:t>
            </a:r>
            <a:r>
              <a:rPr b="0"/>
              <a:t>22MIS0259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Degree &amp; Branch: </a:t>
            </a:r>
            <a:r>
              <a:rPr b="0"/>
              <a:t>Integrated M.Tech Software Engineering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School: </a:t>
            </a:r>
            <a:r>
              <a:rPr b="0"/>
              <a:t>SCORE, Vellore Institute of Technology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Review Milestone: </a:t>
            </a:r>
            <a:r>
              <a:rPr b="0"/>
              <a:t>Review - 2 (Design, Architecture &amp; Implementation)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97680"/>
            <a:ext cx="521208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4462272"/>
            <a:ext cx="4882896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2341"/>
                </a:solidFill>
                <a:latin typeface="Calibri"/>
              </a:defRPr>
            </a:pPr>
            <a:r>
              <a:t>PROJECT GUIDANCE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Faculty Guide: </a:t>
            </a:r>
            <a:r>
              <a:rPr b="0"/>
              <a:t>PROF. PAVITRA 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Designation: </a:t>
            </a:r>
            <a:r>
              <a:rPr b="0"/>
              <a:t>Associate Professor Senior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Department: </a:t>
            </a:r>
            <a:r>
              <a:rPr b="0"/>
              <a:t>Software and Systems Engineering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School: </a:t>
            </a:r>
            <a:r>
              <a:rPr b="0"/>
              <a:t>SCORE, Vellore Institute of Technology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Presentation Date: </a:t>
            </a:r>
            <a:r>
              <a:rPr b="0"/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1. Introduction &amp; Domain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2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The Perishable Retail Dilemma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High-Margin Vulnerability: </a:t>
            </a:r>
            <a:r>
              <a:rPr b="0"/>
              <a:t>Perishable categories (dairy, bakery, produce, meat) account for 50%+ of grocery transactions but carry extreme margin risks.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30% - 45% Waste Volume: </a:t>
            </a:r>
            <a:r>
              <a:rPr b="0"/>
              <a:t>Independent kirana stores lose over 30% to 45% of perishable inventory volume to spoilage and expiration.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Short Shelf Lifespans: </a:t>
            </a:r>
            <a:r>
              <a:rPr b="0"/>
              <a:t>Products have narrow consumption windows ranging from 2 days (milk/berries) to 14 days (processed dairy/packaged meats).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Thermal Sensitivity: </a:t>
            </a:r>
            <a:r>
              <a:rPr b="0"/>
              <a:t>Biological degradation accelerates rapidly with ambient temperature surges without warning.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Shortcomings of Current Methods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Manual Audits &amp; Spreadsheets: </a:t>
            </a:r>
            <a:r>
              <a:rPr b="0"/>
              <a:t>Store managers rely on mental estimates, paper ledgers, or static spreadsheets that lack proactive alerts.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Blind FIFO Stocking: </a:t>
            </a:r>
            <a:r>
              <a:rPr b="0"/>
              <a:t>Standard Point-of-Sale registers record transactions blindly without tracking physical batch expiration dates.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No Clearance Optimization: </a:t>
            </a:r>
            <a:r>
              <a:rPr b="0"/>
              <a:t>Retailers lack quantitative dynamic pricing models to liquidate near-expiry stock, resulting in 100% loss.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Unintegrated Silos: </a:t>
            </a:r>
            <a:r>
              <a:rPr b="0"/>
              <a:t>Inventory records, supplier reordering, and POS checkout operate as disconnected processes.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The ShelfLife Solution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Integrated Architecture: </a:t>
            </a:r>
            <a:r>
              <a:rPr b="0"/>
              <a:t>End-to-end full-stack platform combining React 19, FastAPI, PostgreSQL 18, and scikit-learn.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Predictive Intelligence: </a:t>
            </a:r>
            <a:r>
              <a:rPr b="0"/>
              <a:t>Dual ML models: L2 Ridge Regression for demand forecasting and class-weighted Logistic Regression for spoilage.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FEFO Automated POS: </a:t>
            </a:r>
            <a:r>
              <a:rPr b="0"/>
              <a:t>Atomic multi-batch Point-of-Sale checkout engine enforcing First-Expired, First-Out depletion automatically.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Commercial Hardware Ready: </a:t>
            </a:r>
            <a:r>
              <a:rPr b="0"/>
              <a:t>Engineered to run seamlessly on commodity retail PCs without costly cloud subscriptions.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2. Problem Statement: Core Structural Bottlenecks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3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4882896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Sub-optimal Depletion: FIFO vs. FEFO Trap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The FIFO Deficiency: </a:t>
            </a:r>
            <a:r>
              <a:rPr b="0"/>
              <a:t>Cashier registers deduct inventory using FIFO (First-In, First-Out) based on receiving date rather than true expiration.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Trapped Near-Expiry Batches: </a:t>
            </a:r>
            <a:r>
              <a:rPr b="0"/>
              <a:t>Older batches expiring within 24 to 48 hours remain trapped behind newer arrivals on retail shelves.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Catastrophic Shrinkage: </a:t>
            </a:r>
            <a:r>
              <a:rPr b="0"/>
              <a:t>Leads directly to avoidable spoilage write-offs, accounting for over 70% of store-level shrinkage losses.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27632"/>
            <a:ext cx="4882896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Demand Volatility &amp; Inaccurate Reordering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Erratic Footfall Cycles: </a:t>
            </a:r>
            <a:r>
              <a:rPr b="0"/>
              <a:t>Perishable demand fluctuates sharply across weekdays, weekends, local holidays, and weather conditions.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The Overstock Penalty: </a:t>
            </a:r>
            <a:r>
              <a:rPr b="0"/>
              <a:t>Procuring surplus units during low footfall leads to direct product expiration and capital disposal.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The Stockout Penalty: </a:t>
            </a:r>
            <a:r>
              <a:rPr b="0"/>
              <a:t>Under-ordering leads to empty shelves, lost sales margin, and damaged customer retention.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96512"/>
            <a:ext cx="4882896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Lack of Thermal Tracking &amp; Micro-Climatic Awareness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Ambient Temperature Spikes: </a:t>
            </a:r>
            <a:r>
              <a:rPr b="0"/>
              <a:t>Cold-chain interruptions and ambient heatwaves (&gt;35°C) degrade dairy and produce days ahead of printed dates.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Static Expiry Dates: </a:t>
            </a:r>
            <a:r>
              <a:rPr b="0"/>
              <a:t>Standard systems treat printed expiry dates as absolute, failing to dynamically account for thermal stress.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Silent Spoilage: </a:t>
            </a:r>
            <a:r>
              <a:rPr b="0"/>
              <a:t>Customers purchase spoiled items unknowingly, triggering complaints and food safety hazards.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096512"/>
            <a:ext cx="4882896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Absence of Algorithmic Markdown Salvage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Binary All-or-Nothing Mindset: </a:t>
            </a:r>
            <a:r>
              <a:rPr b="0"/>
              <a:t>Retailers sell items at full price until expiry day, then discard 100% of remaining stock into waste bins.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Zero Price Elasticity Modeling: </a:t>
            </a:r>
            <a:r>
              <a:rPr b="0"/>
              <a:t>Micro-retailers lack dynamic simulators to model revenue recovery under 20% to 50% discount markdowns.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Total Capital Write-Off: </a:t>
            </a:r>
            <a:r>
              <a:rPr b="0"/>
              <a:t>Transforms potentially salvageable gross revenue into complete net capital destruction.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3. Project Objectives (Quantitative &amp; Verified)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4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4882896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3.2.1 Data Ingestion &amp; Preprocessing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Multi-Category Dataset: </a:t>
            </a:r>
            <a:r>
              <a:rPr b="0"/>
              <a:t>Clean, process, and normalize 989 multi-category inventory records across 7 perishable retail classes.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StandardScaler &amp; OneHotEncoder: </a:t>
            </a:r>
            <a:r>
              <a:rPr b="0"/>
              <a:t>Scale continuous features (z = (x - μ) / σ) and encode categorical classes.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Zero Data Leakage: </a:t>
            </a:r>
            <a:r>
              <a:rPr b="0"/>
              <a:t>Preprocessing pipelines fitted strictly on 80% training partition; serialized via joblib for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27632"/>
            <a:ext cx="4882896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3.2.2 Supervised Demand Forecasting Model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L2-Regularized Ridge Regression: </a:t>
            </a:r>
            <a:r>
              <a:rPr b="0"/>
              <a:t>Train Ridge model (alpha=1.0) to predict upcoming cycle demand volume.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Mitigates Collinearity: </a:t>
            </a:r>
            <a:r>
              <a:rPr b="0"/>
              <a:t>Penalizes exploding weights between on-hand stock and reorder thresholds.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Experimental Result: </a:t>
            </a:r>
            <a:r>
              <a:rPr b="0"/>
              <a:t>MAE = 19.45 units, RMSE = 22.75 units across test split with sub-2ms inference latency.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96512"/>
            <a:ext cx="4882896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3.2.3 Probabilistic Spoilage Risk Classification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Class-Weighted Logistic Regression: </a:t>
            </a:r>
            <a:r>
              <a:rPr b="0"/>
              <a:t>Estimate degradation probability P_spoil in [0, 1] across continuous features.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3-Tier Risk Stratification: </a:t>
            </a:r>
            <a:r>
              <a:rPr b="0"/>
              <a:t>Classify batches into High (&gt;=60%), Medium (30%-59%), and Low (&lt;30%) risk tiers.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Experimental Result: </a:t>
            </a:r>
            <a:r>
              <a:rPr b="0"/>
              <a:t>Test Accuracy = 88.89%, High-Risk Spoilage Recall = 96.03% (safeguarding public health).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096512"/>
            <a:ext cx="4882896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3.2.4 - 3.2.6 Engine, POS &amp; Dashboard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Composite Health Index: </a:t>
            </a:r>
            <a:r>
              <a:rPr b="0"/>
              <a:t>Formulate bounded index H in [0, 100] generating 5 prescriptive actions with natural language rationale.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Atomic Multi-Batch FEFO POS: </a:t>
            </a:r>
            <a:r>
              <a:rPr b="0"/>
              <a:t>Deduct customer sales sequentially from earliest expiring batches first with cascade logic.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Executive Retail Dashboard: </a:t>
            </a:r>
            <a:r>
              <a:rPr b="0"/>
              <a:t>React 19 / Vite 8 UI with financial valuation cards, What-If simulator, and faculty stress presets.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4. Operational Scope &amp; Micro-Retail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5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Target Retail Domain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Independent Supermarkets: </a:t>
            </a:r>
            <a:r>
              <a:rPr b="0"/>
              <a:t>Small-to-medium grocery stores with 1 to 5 cashier checkout terminals.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Neighborhood Kirana Stores: </a:t>
            </a:r>
            <a:r>
              <a:rPr b="0"/>
              <a:t>Micro-retailers handling high-turnover daily perishables with constrained capital.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Commodity PC Hardware: </a:t>
            </a:r>
            <a:r>
              <a:rPr b="0"/>
              <a:t>Deploys on standard Windows 10/11 desktop PCs; eliminates enterprise cloud bills.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Zero Specialized Sensors: </a:t>
            </a:r>
            <a:r>
              <a:rPr b="0"/>
              <a:t>Leverages software algorithms and ambient weather APIs instead of costly RFID tags.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7 Perishable Classes Modeled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Dairy Products: </a:t>
            </a:r>
            <a:r>
              <a:rPr b="0"/>
              <a:t>Fresh Whole Milk, Pasteurized Butter, Paneer, Curd, Artisanal Cheese (Shelf life: 2-15 days).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Fresh Bakery Items: </a:t>
            </a:r>
            <a:r>
              <a:rPr b="0"/>
              <a:t>Brown Bread, Whole Wheat Loaves, Brioche, Croissants (Shelf life: 3-5 days).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Fresh Produce: </a:t>
            </a:r>
            <a:r>
              <a:rPr b="0"/>
              <a:t>Leafy Vegetables, Tomatoes, Bananas, Apples, Strawberries (Shelf life: 3-10 days).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Poultry, Meat &amp; Seafood: </a:t>
            </a:r>
            <a:r>
              <a:rPr b="0"/>
              <a:t>Fresh Chicken Breast, Mutton, Salmon Fillets, Prawns (Shelf life: 2-4 days).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Fresh Beverages: </a:t>
            </a:r>
            <a:r>
              <a:rPr b="0"/>
              <a:t>Cold-Pressed Juices, Unpasteurized Nectars (Shelf life: 4-7 days).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Multi-Timescale Operations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Sub-Second POS Execution: </a:t>
            </a:r>
            <a:r>
              <a:rPr b="0"/>
              <a:t>Instant atomic customer checkout with cascading FEFO batch depletion in &lt;15ms.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Daily Expiry Countdown: </a:t>
            </a:r>
            <a:r>
              <a:rPr b="0"/>
              <a:t>Continuous automated updates of remaining days and thermal degradation risk.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Upcoming Cycle Forecasting: </a:t>
            </a:r>
            <a:r>
              <a:rPr b="0"/>
              <a:t>7-day cyclical demand volume forecasting to guide weekly supplier orders.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Longitudinal Audit Logging: </a:t>
            </a:r>
            <a:r>
              <a:rPr b="0"/>
              <a:t>Complete audit trail of sales transactions, batch write-offs, and salvageable margin.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5. Technology Stack &amp; Architectural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6 of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1097280"/>
                <a:gridCol w="5516575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 Tier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 / Framework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 &amp; Engineering Justification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Presentation Layer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React (JavaScript SPA)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19.0.0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Declarative UI, high-concurrency state rendering, responsive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Frontend Bundler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Vite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8.0.0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Instant Hot Module Replacement (HMR) and optimized static production builds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Backend REST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FastAPI (Python)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0.115.5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High-throughput asynchronous ASGI routing, auto Pydantic input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ASGI Web Server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Uvicorn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0.32.0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High-performance production ASGI server handling multi-threaded requests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Relational 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PostgreSQL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18.0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ACID-compliant storage, B-tree indexes, foreign keys with CASCADE integrity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Machine Learning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scikit-learn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1.6.0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Ridge Regression, Logistic Regression, StandardScaler, OneHotEncoder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 Processing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NumPy &amp; Pandas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2.1.0 / 2.2.0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In-memory tensor manipulation and structured tabular feature engineering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Model Persistence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Joblib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1.4.2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Zero-copy binary serialization of trained estimators and preprocessing transformers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Automated QA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Pytest &amp; Unittest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8.3.0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33 automated test cases covering endpoints, rule heuristics, and ML pipelines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6. Perishable Inventory Dynamics vs. AI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7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4882896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Biological Degradation Realities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Non-Linear Spoilage Curve: </a:t>
            </a:r>
            <a:r>
              <a:rPr b="0"/>
              <a:t>Microbial growth in food follows an exponential curve once ambient temperatures exceed 25°C.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Strict Consumption Horizons: </a:t>
            </a:r>
            <a:r>
              <a:rPr b="0"/>
              <a:t>Unlike durable electronics or apparel, unsold perishable inventory drops to zero economic value instantly upon expiry.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Asymmetric Cost Function: </a:t>
            </a:r>
            <a:r>
              <a:rPr b="0"/>
              <a:t>The cost of selling spoiled food (reputation, legal hazard) far exceeds the cost of a clearance discount.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27632"/>
            <a:ext cx="4882896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AI Challenge 1: Collinear Retail Predictors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Multicollinearity in Inventory: </a:t>
            </a:r>
            <a:r>
              <a:rPr b="0"/>
              <a:t>Current stock, reorder levels, and order quantities are tightly correlated (r &gt; 0.85).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Ordinary Least Squares Failure: </a:t>
            </a:r>
            <a:r>
              <a:rPr b="0"/>
              <a:t>Standard OLS linear regression exhibits unstable coefficients and extreme variance inflation.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L2 Ridge Penalty Solution: </a:t>
            </a:r>
            <a:r>
              <a:rPr b="0"/>
              <a:t>Adds an alpha=1.0 penalty on squared weights, shrinking coefficients and stabilizing demand projections.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96512"/>
            <a:ext cx="4882896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AI Challenge 2: Class Imbalance in Spoilage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The High-Risk Rarity: </a:t>
            </a:r>
            <a:r>
              <a:rPr b="0"/>
              <a:t>In well-managed stores, spoiled batches represent a minority class (&lt;15% of historical observations).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Standard Classifier Failure: </a:t>
            </a:r>
            <a:r>
              <a:rPr b="0"/>
              <a:t>Unweighted classifiers tend to predict 'Safe' for all batches, leading to catastrophic false negatives.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Class-Weighted Loss Solution: </a:t>
            </a:r>
            <a:r>
              <a:rPr b="0"/>
              <a:t>Balanced class weighting penalizes missed spoilage heavily, achieving 96.03% High-Risk Recall.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096512"/>
            <a:ext cx="4882896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AI Challenge 3: Edge Inference &amp; Interpretability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Micro-Retail Resource Bounds: </a:t>
            </a:r>
            <a:r>
              <a:rPr b="0"/>
              <a:t>Store POS computers lack dedicated NVIDIA GPUs; heavy deep learning (LSTMs, Transformers) is infeasible.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Sub-2ms Lightweight Inference: </a:t>
            </a:r>
            <a:r>
              <a:rPr b="0"/>
              <a:t>Serialized linear pipelines execute in under 2ms CPU time with zero latency.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White-Box Explainability: </a:t>
            </a:r>
            <a:r>
              <a:rPr b="0"/>
              <a:t>Store managers require transparent reasons to trust automated purchase orders and markdown suggestions.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7. Literature Survey: Comparative Academic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8 of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03120"/>
                <a:gridCol w="2560320"/>
                <a:gridCol w="2743200"/>
                <a:gridCol w="2773375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S.No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Title &amp; Citation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Methodology / Contribution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Merits &amp; Strengths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Demerits &amp; Research Gaps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Wang et al. (2021)</a:t>
                      </a:r>
                    </a:p>
                    <a:p>
                      <a:r>
                        <a:t>Int. J. Prod. Econ.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 &amp; GBDT for grocery sales time-series.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Captures non-linear sales patterns across historical promotions.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inference latency (&gt;150ms); omits batch-level physical expiration dates.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Tromp et al. (2019)</a:t>
                      </a:r>
                    </a:p>
                    <a:p>
                      <a:r>
                        <a:t>Food Control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Empirical study on FIFO vs. FEFO stock rotation.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Proves FEFO reduces dairy waste volume by 23% in supply chains.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Limited to pallet-level warehouse logistics; lacks cashier-level POS checkout algorithm.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Kumar &amp; Lee (2022)</a:t>
                      </a:r>
                    </a:p>
                    <a:p>
                      <a:r>
                        <a:t>Comput. Ind. Eng.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Cost-sensitive classification for food spoilage prevention.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Penalizes false negatives in perishable hazard prediction.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Outputs theoretical probabilities without prescriptive business actions (e.g. Reorder vs. Discount).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Gupta &amp; Sharma (2022)</a:t>
                      </a:r>
                    </a:p>
                    <a:p>
                      <a:r>
                        <a:t>J. Retail Consum. Serv.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Multi-factor inventory health index formulation.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Combines supplier lead time and nominal shelf life metrics.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Relies entirely on static quarterly averages; lacks dynamic ML demand forecasting models.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Chen &amp; Friesz (2020)</a:t>
                      </a:r>
                    </a:p>
                    <a:p>
                      <a:r>
                        <a:t>Eur. J. Oper. Res.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Dynamic pricing and clearance markdowns for perishables.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Formulates mathematical markdown pricing based on decay curves.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Purely theoretical equations; lacks empirical software implementation and POS database integration.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8. Research Gap vs. ShelfLife Technical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9 of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200400"/>
                <a:gridCol w="2773375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 Dimension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Existing Research &amp; Industry Practices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ShelfLife Architectural Solution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Measurable Project Advantage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Demand Forecasting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Complex deep neural networks (LSTMs) requiring &gt;100,000 historical rows.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Lightweight L2-regularized Ridge Regression model fitted on tabular retail features.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Sub-2ms CPU inference; stable under collinear inventory variables (MAE: 19.45).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Spoilage Risk Detection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Costly IoT RFID temperature sensors or uncalibrated binary classifiers.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Class-weighted Logistic Regression using shelf life, category, and storage temp.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96.03% High-Risk Spoilage Recall without requiring proprietary IoT hardware.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Stock Depletion Logic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 FIFO (First-In, First-Out) or arbitrary cashier item picking.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Automated Point-of-Sale (POS) multi-batch FEFO deduction engine.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Oldest expiring batches liquidated first; prevents trapped near-expiry units.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Decision Support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Opaque black-box recommendations without operational rationale.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Deterministic Composite Health Index (0-100) with rule-based justifications.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Categorizes into 5 clear actions: Urgent Clearance, Sell Quickly, Reorder, Monitor, Stock OK.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Financial 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 100% loss write-off once products reach expiration date.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Interactive Promotional Clearance Markdown Simulator under price elasticity.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Recovers 65% - 85% of capital value through timely discount liquidation.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9. Proposed System: End-to-End Activity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10 of 20</a:t>
            </a:r>
          </a:p>
        </p:txBody>
      </p:sp>
      <p:pic>
        <p:nvPicPr>
          <p:cNvPr id="6" name="Picture 5" descr="activity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Workflow Pipeline Stages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1. Ingestion &amp; Validation: </a:t>
            </a:r>
            <a:r>
              <a:rPr b="0"/>
              <a:t>New goods registered with batch code, expiry date, purchase cost, retail price, and storage temperature.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2. Feature Preprocessing: </a:t>
            </a:r>
            <a:r>
              <a:rPr b="0"/>
              <a:t>Numerical attributes normalized via StandardScaler; product categories transformed via OneHotEncoder.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3. Parallel ML Inference: </a:t>
            </a:r>
            <a:r>
              <a:rPr b="0"/>
              <a:t>Ridge model computes cycle demand volume; Logistic model computes probabilistic spoilage risk.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4. Deterministic Rule Synthesis: </a:t>
            </a:r>
            <a:r>
              <a:rPr b="0"/>
              <a:t>Evaluates composite health score H in [0, 100]; triggers urgent clearance or reorder recommendations.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5. Multi-Batch FEFO POS: </a:t>
            </a:r>
            <a:r>
              <a:rPr b="0"/>
              <a:t>Customer checkouts atomically deduct sold units sequentially from oldest expiring batches first.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6. Ledger Synchronization: </a:t>
            </a:r>
            <a:r>
              <a:rPr b="0"/>
              <a:t>Real-time updates to PostgreSQL tables, store valuation cards, and streaming audit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10. Layered Enterprise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11 of 20</a:t>
            </a:r>
          </a:p>
        </p:txBody>
      </p:sp>
      <p:pic>
        <p:nvPicPr>
          <p:cNvPr id="6" name="Picture 5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4-Tier Architecture Details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Presentation Layer: </a:t>
            </a:r>
            <a:r>
              <a:rPr b="0"/>
              <a:t>React 19 single-page app with Executive Dashboard, POS Checkout modal, Batch tables, and Scenario switchers.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API Gateway Layer: </a:t>
            </a:r>
            <a:r>
              <a:rPr b="0"/>
              <a:t>Python FastAPI asynchronous backend routing requests (/products, /inventory, /sales, /ml/*, /demo/*).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Service &amp; Intelligence Core: </a:t>
            </a:r>
            <a:r>
              <a:rPr b="0"/>
              <a:t>Scikit-learn ML inference pipeline, Deterministic Rule Engine, FEFO Deduction Engine, and Clearance Simulator.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Data Persistence Layer: </a:t>
            </a:r>
            <a:r>
              <a:rPr b="0"/>
              <a:t>PostgreSQL 18 relational engine enforcing ACID compliance, foreign keys, and cascading integrity across 6 tables.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Sub-15ms Latency: </a:t>
            </a:r>
            <a:r>
              <a:rPr b="0"/>
              <a:t>End-to-end REST responses execute under 15ms with full parameterized query security.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11. UML Use Case Diagram: Retail Intelligence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12 of 20</a:t>
            </a:r>
          </a:p>
        </p:txBody>
      </p:sp>
      <p:pic>
        <p:nvPicPr>
          <p:cNvPr id="6" name="Picture 5" descr="uml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Use Case Analysis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Primary Retail Actor: </a:t>
            </a:r>
            <a:r>
              <a:rPr b="0"/>
              <a:t>Store Manager / Cashier interacting with the web command center.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View Executive Dashboard: </a:t>
            </a:r>
            <a:r>
              <a:rPr b="0"/>
              <a:t>Monitors financial KPIs, inventory valuation, active batches, and high-risk spoilage radar.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Record POS Sale &lt;&lt;include&gt;&gt;: </a:t>
            </a:r>
            <a:r>
              <a:rPr b="0"/>
              <a:t>Cashier records customer transaction; automatically triggers &lt;&lt;include&gt;&gt; FEFO Stock Deduction.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Add Catalog &amp; Batches: </a:t>
            </a:r>
            <a:r>
              <a:rPr b="0"/>
              <a:t>Registers new inventory items with purchase date, shelf-life, and storage temperature.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Adjust / Discard Batch: </a:t>
            </a:r>
            <a:r>
              <a:rPr b="0"/>
              <a:t>Performs manual stock adjustments with recorded audit reasons (damage, spoilage, shrinkage).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Run What-If Simulators: </a:t>
            </a:r>
            <a:r>
              <a:rPr b="0"/>
              <a:t>Simulates clearance discounts (10%-70%) and injects faculty demo stress presets.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12. UML Class Diagram: Domain Model &amp; Entity Relations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13 of 20</a:t>
            </a:r>
          </a:p>
        </p:txBody>
      </p:sp>
      <p:pic>
        <p:nvPicPr>
          <p:cNvPr id="6" name="Picture 5" descr="uml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Object Entity Architecture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Product Entity (1 : N): </a:t>
            </a:r>
            <a:r>
              <a:rPr b="0"/>
              <a:t>Master catalog specs; calculates profit margin; has 1-to-many relationship with InventoryBatch.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InventoryBatch Entity: </a:t>
            </a:r>
            <a:r>
              <a:rPr b="0"/>
              <a:t>Tracks batch number, physical quantity, purchase date, expiry date, storage temp, and remaining shelf life.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Supplier Entity: </a:t>
            </a:r>
            <a:r>
              <a:rPr b="0"/>
              <a:t>Manages supplier contact info, lead time days, minimum order quantity, and procurement orders.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SaleRecord Entity: </a:t>
            </a:r>
            <a:r>
              <a:rPr b="0"/>
              <a:t>Captures customer sales transactions, units sold, realized revenue, and audit timestamps.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SpoilagePrediction Entity: </a:t>
            </a:r>
            <a:r>
              <a:rPr b="0"/>
              <a:t>Persists model outputs: degradation probability, risk level tier (High/Med/Low), and evaluation timestamp.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DecisionEngine Class: </a:t>
            </a:r>
            <a:r>
              <a:rPr b="0"/>
              <a:t>Synthesizes health score H, rule conditions, and natural language recommendations.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13. Methodology: Feature Engineering &amp;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14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1. Data Collection &amp; Schema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989 Observations: </a:t>
            </a:r>
            <a:r>
              <a:rPr b="0"/>
              <a:t>Tabular dataset covering 7 perishable classes collected across multiple retail operating cycles.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Catalog Attributes: </a:t>
            </a:r>
            <a:r>
              <a:rPr b="0"/>
              <a:t>Product ID, Name, Category, Purchase Price, Selling Price, Shelf Life Days.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Batch-Level Attributes: </a:t>
            </a:r>
            <a:r>
              <a:rPr b="0"/>
              <a:t>Batch Number, On-hand Quantity, Purchase Date, Expiry Date, Storage Temperature (°C).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Operational Parameters: </a:t>
            </a:r>
            <a:r>
              <a:rPr b="0"/>
              <a:t>Reorder Level, Reorder Quantity, Supplier Lead Time, Historical Sales Velocity.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2. Transformation Pipeline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StandardScaler Formulation: </a:t>
            </a:r>
            <a:r>
              <a:rPr b="0"/>
              <a:t>Continuous numerical variables normalized using standard z-score scaling: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Equation: </a:t>
            </a:r>
            <a:r>
              <a:rPr b="0"/>
              <a:t>z = (x - μ) / σ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Scaled Features: </a:t>
            </a:r>
            <a:r>
              <a:rPr b="0"/>
              <a:t>Stock_Quantity, Reorder_Level, Reorder_Quantity, Unit_Price, Shelf_Life_Days.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OneHotEncoder: </a:t>
            </a:r>
            <a:r>
              <a:rPr b="0"/>
              <a:t>Categorical variable 'Category' encoded into 7 orthogonal binary indicator dimensions.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Zero Data Leakage: </a:t>
            </a:r>
            <a:r>
              <a:rPr b="0"/>
              <a:t>Transformers fitted strictly on 80% training partition (X_train); frozen and persisted via joblib.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3. Production Pipeline Deployment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Zero-Copy Deserialization: </a:t>
            </a:r>
            <a:r>
              <a:rPr b="0"/>
              <a:t>FastAPI backend loads preprocessor.joblib into memory during startup.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Real-Time Transformation: </a:t>
            </a:r>
            <a:r>
              <a:rPr b="0"/>
              <a:t>Incoming REST request payloads are validated via Pydantic and transformed in &lt;0.5ms.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Robust Unknown Handling: </a:t>
            </a:r>
            <a:r>
              <a:rPr b="0"/>
              <a:t>OneHotEncoder configured with handle_unknown='ignore' preventing API crashes on novel inputs.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Strict Architectural Decoupling: </a:t>
            </a:r>
            <a:r>
              <a:rPr b="0"/>
              <a:t>Model training runs offline; FastAPI serves inference statelessly.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14. Dual Machine Learning Models &amp; Benchmark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15 of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560320"/>
                <a:gridCol w="3870655"/>
              </a:tblGrid>
              <a:tr h="666205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 / Objective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Candidate Algorithm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Validation Metrics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&amp; Selection Rationale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Demand Forecasting</a:t>
                      </a:r>
                    </a:p>
                    <a:p>
                      <a:r>
                        <a:t>(Continuous Units)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Ridge Regression (alpha=1.0)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MAE: 19.45 | RMSE: 22.75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CHAMPION: Robust against collinear inventory variables; sub-2ms latency.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Demand Forecasting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Ordinary Least Squares (OLS)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MAE: 20.12 | RMSE: 23.41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REJECTED: High weight variance due to correlation between stock &amp; reorder level.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Demand Forecasting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 Regressor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MAE: 22.30 | RMSE: 26.80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REJECTED: Prone to leaf overfitting on small category splits; high memory overhead.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Spoilage Classification</a:t>
                      </a:r>
                    </a:p>
                    <a:p>
                      <a:r>
                        <a:t>(Probabilistic Risk)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Logistic Regression (Balanced)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Accuracy: 88.89% | Recall: 96.03%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CHAMPION: 96.03% High-Risk Spoilage Recall guarantees near-zero false negatives.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Spoilage Classification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Decision Tree Classifier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Accuracy: 84.34% | Recall: 88.10%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REJECTED: Step-function splits produce uncalibrated probabilities.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Spoilage Classification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Gaussian Naive Bayes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Accuracy: 79.80% | Recall: 82.54%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REJECTED: Violates independence assumption between storage temp &amp; shelf life.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15. Deterministic Inventory Health &amp; Decision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16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48828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Composite Health Index Formula (H in [0, 100])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Mathematical Formulation: </a:t>
            </a:r>
            <a:r>
              <a:rPr b="0"/>
              <a:t>H = 0.40 * S_expiry + 0.35 * S_spoilage + 0.25 * S_stock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Expiry Score (S_expiry): </a:t>
            </a:r>
            <a:r>
              <a:rPr b="0"/>
              <a:t>S_expiry = min(100, (Days_Remaining / Shelf_Life_Days) * 100)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Spoilage Score (S_spoilage): </a:t>
            </a:r>
            <a:r>
              <a:rPr b="0"/>
              <a:t>S_spoilage = (1 - P_spoil) * 100  (where P_spoil is Logistic degradation probability)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Stock Score (S_stock): </a:t>
            </a:r>
            <a:r>
              <a:rPr b="0"/>
              <a:t>Evaluates buffer ratio theta = Current_Stock / Predicted_Demand: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Stock Buffering Rules: </a:t>
            </a:r>
            <a:r>
              <a:rPr b="0"/>
              <a:t>theta in [0.8, 1.5] -&gt; S_stock = 100 (Optimal buffer)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Understock Penalty: </a:t>
            </a:r>
            <a:r>
              <a:rPr b="0"/>
              <a:t>theta &lt; 0.8 -&gt; S_stock = max(20, theta * 100)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Overstock Penalty: </a:t>
            </a:r>
            <a:r>
              <a:rPr b="0"/>
              <a:t>theta &gt; 1.5 -&gt; S_stock = max(30, 100 - (theta - 1.5) * 30)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27632"/>
            <a:ext cx="48828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5 Prescriptive Action Interventions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1. Urgent Clearance: </a:t>
            </a:r>
            <a:r>
              <a:rPr b="0"/>
              <a:t>Triggered when Days Left &lt;= 2 OR Spoilage Prob &gt;= 60%.
Rationale: Apply 30%-50% promotional discount immediately to salvage capital.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2. Sell Quickly: </a:t>
            </a:r>
            <a:r>
              <a:rPr b="0"/>
              <a:t>Triggered when Days Left in [3, 5] OR Spoilage Prob in [40%, 59%].
Rationale: Relocate to high-visibility front shelf with 15% markdown.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3. Reorder: </a:t>
            </a:r>
            <a:r>
              <a:rPr b="0"/>
              <a:t>Triggered when Current Stock &lt; Reorder Level AND Spoilage Prob &lt; 30%.
Rationale: Inventory depleted below safety threshold; initiate purchase order.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4. Monitor Stock: </a:t>
            </a:r>
            <a:r>
              <a:rPr b="0"/>
              <a:t>Triggered when Stock is balanced but Storage Temp deviates from ideal.
Rationale: Inspect cold-chain refrigeration units to prevent premature decay.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5. Sufficient Stock: </a:t>
            </a:r>
            <a:r>
              <a:rPr b="0"/>
              <a:t>Triggered when Health Score H &gt;= 75.
Rationale: Optimal inventory balance; no immediate retail intervention required.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16. Point-of-Sale (POS) Multi-Batch FEFO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17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48828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The FEFO Stock Reduction Algorithm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The Core Objective: </a:t>
            </a:r>
            <a:r>
              <a:rPr b="0"/>
              <a:t>Enforce First-Expired, First-Out checkout depletion to liquidate oldest expiring batches first.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Step 1: Aggregate Stock Check: </a:t>
            </a:r>
            <a:r>
              <a:rPr b="0"/>
              <a:t>Query SUM(quantity) across active batches; return HTTP 400 if requested quantity exceeds stock.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Step 2: Atomic Sales Entry: </a:t>
            </a:r>
            <a:r>
              <a:rPr b="0"/>
              <a:t>Insert sales record into 'sales' table (product_id, quantity_sold, selling_price, timestamp).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Step 3: Cascading Deduction Loop: </a:t>
            </a:r>
            <a:r>
              <a:rPr b="0"/>
              <a:t>Query active batches ordered by expiry_date ASC, inventory_id ASC.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Step 4: Multi-Batch Fulfillment: </a:t>
            </a:r>
            <a:r>
              <a:rPr b="0"/>
              <a:t>Deduct min(batch.quantity, remaining) sequentially until requested quantity is fully fulfilled.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Step 5: Transaction Commit: </a:t>
            </a:r>
            <a:r>
              <a:rPr b="0"/>
              <a:t>PostgreSQL ACID transaction ensures stock decrements match sales revenue with zero race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27632"/>
            <a:ext cx="48828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Example: Multi-Batch Cascading Checkout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Customer Order: </a:t>
            </a:r>
            <a:r>
              <a:rPr b="0"/>
              <a:t>Customer purchases 5 units of Fresh Whole Milk (Product ID: 1).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Batch State Before Sale: </a:t>
            </a:r>
            <a:r>
              <a:rPr b="0"/>
              <a:t>• BATCH-001 (Expiry: 2026-10-06): 3 units available (Expiring in 1 day)
• BATCH-002 (Expiry: 2026-10-10): 42 units available (Expiring in 5 days)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FEFO Automated Execution: </a:t>
            </a:r>
            <a:r>
              <a:rPr b="0"/>
              <a:t>1. Depletes all 3 units from BATCH-001 (Remaining: 0 units -&gt; Batch Closed)
2. Remaining 2 units deducted from BATCH-002 (Remaining: 40 units)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Outcome Comparison: </a:t>
            </a:r>
            <a:r>
              <a:rPr b="0"/>
              <a:t>• Traditional POS (FIFO/Arbitrary): Older 3 units remain on shelf and expire tomorrow.
• ShelfLife FEFO POS: Near-expiry units liquidated; zero waste generated!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17. Promotional Clearance Markdown Salvage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18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48828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Mathematical Salvage Formulation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The Economic Rationale: </a:t>
            </a:r>
            <a:r>
              <a:rPr b="0"/>
              <a:t>Selling near-expiry perishables at a steep discount is always mathematically superior to paying disposal costs and writing off 100% of product cost.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Discounted Price Equation: </a:t>
            </a:r>
            <a:r>
              <a:rPr b="0"/>
              <a:t>Discounted_Price = Selling_Price * (1 - (Discount% / 100))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Preserved Capital Equation: </a:t>
            </a:r>
            <a:r>
              <a:rPr b="0"/>
              <a:t>Preserved_Capital = Q_batch * Discounted_Price * eta_velocity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Price Elasticity Velocity (eta): </a:t>
            </a:r>
            <a:r>
              <a:rPr b="0"/>
              <a:t>Discount of 30% to 50% stimulates rapid impulse purchases (eta_velocity in [0.85, 0.95]).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Net Capital Salvage: </a:t>
            </a:r>
            <a:r>
              <a:rPr b="0"/>
              <a:t>Transforms high-risk inventory write-offs into immediate liquid working capital.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27632"/>
            <a:ext cx="48828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Empirical Case Study: Kirana Store Valuation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Base Store Valuation: </a:t>
            </a:r>
            <a:r>
              <a:rPr b="0"/>
              <a:t>• Total Inventory Cost Valuation: ₹8,450.00
• Potential Retail Turnover: ₹11,200.00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High-Risk Exposure: </a:t>
            </a:r>
            <a:r>
              <a:rPr b="0"/>
              <a:t>• 3 Batches in 'Urgent Clearance' status (Milk, Bread, Yogurt)
• Total Capital at High Spoilage Risk: ₹3,120.00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Clearance Simulator Scenarios: </a:t>
            </a:r>
            <a:r>
              <a:rPr b="0"/>
              <a:t>• 0% Discount (Default): 100% spoilage loss -&gt; Salvage: ₹0 (Loss: ₹3,120)
• 20% Clearance Discount: Salvageable Capital = ₹2,496.00 (80% recovered)
• 35% Clearance Discount: Salvageable Capital = ₹2,028.00 (65% recovered)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Executive Bottom Line: </a:t>
            </a:r>
            <a:r>
              <a:rPr b="0"/>
              <a:t>Recovers ₹2,028 in liquid cash rather than suffering a 100% write-off.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18. System Implementation &amp; 33 QA Test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19 of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371600"/>
                <a:gridCol w="6156655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Suite File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Scope &amp; Verification Objectives</a:t>
                      </a:r>
                    </a:p>
                  </a:txBody>
                  <a:tcPr anchor="ctr">
                    <a:solidFill>
                      <a:srgbClr val="0F234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test_api.py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 (100%)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API health probe, catalog CRUD, batch lifecycle, supplier orders, weather telemetry, intelligence endpoints.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test_rules.py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 Tests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 (100%)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Rule engine transitions: understock reorder, near-expiry clearance, surplus sell-quickly, cold-chain violation penalty.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test_ml.py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 (100%)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Model artifact deserialization, non-negative demand predictions, unknown category robustness, probability calibration.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test_ml_integration.py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 Tests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 (100%)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Live FastAPI REST endpoints (/ml/predict/*), database persistence sync, and real-time health score calculation.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test_reports.py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 (100%)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Store valuation at risk, promotional clearance markdown math, streaming CSV exports, and faculty demo preset transitions.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572000"/>
            <a:ext cx="10728655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736592"/>
            <a:ext cx="10399471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Faculty Demonstration Stress Presets (Live Interactive Testing)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Standard Scenario: </a:t>
            </a:r>
            <a:r>
              <a:rPr b="0"/>
              <a:t>Normal retail conditions (24°C, balanced stock, typical consumer purchasing velocity).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Heatwave Preset (41.5°C): </a:t>
            </a:r>
            <a:r>
              <a:rPr b="0"/>
              <a:t>Injects ambient thermal surge; immediately triggers cold-chain warnings and escalates spoilage probabilities to High.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Urgent Clearance Preset: </a:t>
            </a:r>
            <a:r>
              <a:rPr b="0"/>
              <a:t>Simulates near-expiry stock crisis across dairy and bakery; demonstrates automated markdown simulator and capital salvage.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Stockout Crisis Preset: </a:t>
            </a:r>
            <a:r>
              <a:rPr b="0"/>
              <a:t>Simulates supply depletion below reorder thresholds; triggers immediate supplier purchase order recommendations.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SWE3004 - REVIEW 2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341"/>
                </a:solidFill>
                <a:latin typeface="Calibri"/>
              </a:defRPr>
            </a:pPr>
            <a:r>
              <a:t>19. Summary, Business Impact &amp; Review-2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ShelfLife: AI-Powered Perishable Inventory Management | 22MIS0259 - SUNILKUMAR B | Slide 20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Key Academic Achievements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Full-Stack Integration: </a:t>
            </a:r>
            <a:r>
              <a:rPr b="0"/>
              <a:t>Successfully bridged relational PostgreSQL persistence, Python FastAPI microservices, and React 19 UI.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Dual ML Pipelines: </a:t>
            </a:r>
            <a:r>
              <a:rPr b="0"/>
              <a:t>L2 Ridge Regression (MAE: 19.45) and class-weighted Logistic Regression (Recall: 96.03%).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Mathematical Heuristics: </a:t>
            </a:r>
            <a:r>
              <a:rPr b="0"/>
              <a:t>Formulated bounded Health Index H in [0, 100] with 5 prescriptive action triggers.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Multi-Batch FEFO POS: </a:t>
            </a:r>
            <a:r>
              <a:rPr b="0"/>
              <a:t>Eliminated cashier FIFO expiry traps via atomic cascading stock reduction.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Quantified Retail Impact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35% Waste Reduction: </a:t>
            </a:r>
            <a:r>
              <a:rPr b="0"/>
              <a:t>Enforcing FEFO stock reduction prevents near-expiry batches from expiring on shelves.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65% - 85% Capital Salvage: </a:t>
            </a:r>
            <a:r>
              <a:rPr b="0"/>
              <a:t>Promotional clearance markdown recovers liquid revenue from imminent write-offs.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Zero Guesswork Reordering: </a:t>
            </a:r>
            <a:r>
              <a:rPr b="0"/>
              <a:t>Ridge demand forecasting guides weekly supplier orders, eliminating costly stockouts.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Sub-15ms Responsive UI: </a:t>
            </a:r>
            <a:r>
              <a:rPr b="0"/>
              <a:t>Instant checkout feedback and interactive scenario presets designed for commodity hardware.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27632"/>
            <a:ext cx="3054096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Review-2 Defense Readiness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33 / 33 Passing Tests: </a:t>
            </a:r>
            <a:r>
              <a:rPr b="0"/>
              <a:t>Complete unit and integration test coverage across API, ML, and rule engines.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UML Artifacts Complete: </a:t>
            </a:r>
            <a:r>
              <a:rPr b="0"/>
              <a:t>Use Case Diagram, Class Diagram, Activity Workflow, and System Architecture integrated.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Live Demonstration Ready: </a:t>
            </a:r>
            <a:r>
              <a:rPr b="0"/>
              <a:t>Full-stack application launched and stress-tested with faculty demo presets.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Future Work Roadmap: </a:t>
            </a:r>
            <a:r>
              <a:rPr b="0"/>
              <a:t>Integration of barcode/QR-code scanning cameras and automated supplier WhatsApp notifications.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